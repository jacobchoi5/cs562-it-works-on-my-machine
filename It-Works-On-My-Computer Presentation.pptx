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Jacob Cho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09T22:00:22.881">
    <p:pos x="6000" y="0"/>
    <p:text>@jchoi14@stevens.edu
_Assigned to you_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5-09T22:00:31.995">
    <p:pos x="6000" y="0"/>
    <p:text>@oungaro@stevens.edu
_Assigned to Owen Ungaro_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9ab0657b6c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9ab0657b6c_1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9ab0657b6c_1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ab0e74697_5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9ab0e74697_5_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9ab0e74697_5_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b0657b6c_1_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9ab0657b6c_1_3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9ab0657b6c_1_3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b0657b6c_1_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ab0657b6c_1_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ab0657b6c_1_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b0657b6c_1_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9ab0657b6c_1_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b0657b6c_1_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ab0657b6c_1_1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9ab0657b6c_1_1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ab0657b6c_1_1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ab0657b6c_1_1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9ab0657b6c_1_13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ab0657b6c_1_13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ab0657b6c_1_1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9ab0657b6c_1_18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ab0657b6c_1_18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ab0e74697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9ab0e74697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9ab0e74697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6"/>
          <p:cNvSpPr/>
          <p:nvPr/>
        </p:nvSpPr>
        <p:spPr>
          <a:xfrm>
            <a:off x="-137160" y="457200"/>
            <a:ext cx="4572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0000"/>
              <a:buFont typeface="Arial Black"/>
              <a:buNone/>
            </a:pPr>
            <a:r>
              <a:rPr b="1" i="0" lang="en" sz="20000" u="none" cap="none" strike="noStrike">
                <a:solidFill>
                  <a:srgbClr val="F4F4F4"/>
                </a:solidFill>
                <a:latin typeface="Arial Black"/>
                <a:ea typeface="Arial Black"/>
                <a:cs typeface="Arial Black"/>
                <a:sym typeface="Arial Black"/>
              </a:rPr>
              <a:t>MF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157450" y="1141450"/>
            <a:ext cx="9228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200"/>
              <a:buFont typeface="Arial Black"/>
              <a:buNone/>
            </a:pPr>
            <a:r>
              <a:rPr b="1" lang="en" sz="51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It-Works-On-My-Machine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640080" y="297180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700"/>
              <a:buFont typeface="Calibri"/>
              <a:buNone/>
            </a:pPr>
            <a:r>
              <a:rPr lang="en" sz="17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Jacob Choi &amp; Owen Ungaro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640080" y="4663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8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8E8"/>
                </a:solidFill>
                <a:latin typeface="Calibri"/>
                <a:ea typeface="Calibri"/>
                <a:cs typeface="Calibri"/>
                <a:sym typeface="Calibri"/>
              </a:rPr>
              <a:t>CS 562  ·  Stevens Institute of 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 Black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502920" y="59436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502920" y="1508760"/>
            <a:ext cx="8138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</a:pPr>
            <a:r>
              <a:rPr b="0" i="0" lang="en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SQL's GROUP BY can only bucket rows one way at a time</a:t>
            </a:r>
            <a:r>
              <a:rPr lang="en" sz="15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15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grouping by customer is fine, but the moment you need aggregates across multiple subsets of that same group, standard SQL has no way to express it in one query.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502920" y="2651760"/>
            <a:ext cx="260604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502920" y="2651760"/>
            <a:ext cx="260604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667512" y="27432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 Black"/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667512" y="3090672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1" i="0" lang="en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One query per subset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667512" y="3566160"/>
            <a:ext cx="23042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Each state filter needs its own subquery with its own GROUP BY and a full table scan.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3337560" y="2651760"/>
            <a:ext cx="260604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3337560" y="2651760"/>
            <a:ext cx="260604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3502152" y="27432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 Black"/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502152" y="3090672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1" i="0" lang="en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Results in separate sets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502152" y="3566160"/>
            <a:ext cx="23042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Getting NY, NJ, and CT side by side in one row per customer requires joining all three back together.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6172200" y="2651760"/>
            <a:ext cx="2606040" cy="21945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6172200" y="2651760"/>
            <a:ext cx="260604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6336792" y="274320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 Black"/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6336792" y="3090672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 Black"/>
              <a:buNone/>
            </a:pPr>
            <a:r>
              <a:rPr b="1" i="0" lang="en" sz="15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Doesn't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336792" y="3566160"/>
            <a:ext cx="23042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Adding a fourth dimension means another subquery and another join. N dimensions = N subqueries.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 Black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02920" y="59436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Solution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502920" y="1463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600"/>
              <a:buFont typeface="Calibri"/>
              <a:buNone/>
            </a:pPr>
            <a:r>
              <a:rPr i="1" lang="en" sz="16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Write a Phi operator spec. Run the engine. Get a standalone Python program that scans the sales table and computes your aggregates.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502920" y="2103120"/>
            <a:ext cx="3749040" cy="265176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685800" y="22128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nsolas"/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INPUT    query.txt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685800" y="2560320"/>
            <a:ext cx="338328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685800" y="269748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SELECT:  cust, 1_sum_quant 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n: 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V:  cust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sigma:  1.state='NY'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 2.state='NJ'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 3.state='CT'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G:  none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4303488" y="3383275"/>
            <a:ext cx="531600" cy="45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4778975" y="3264408"/>
            <a:ext cx="25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4937760" y="2103120"/>
            <a:ext cx="3749100" cy="26517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5120640" y="221284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nsolas"/>
              <a:buNone/>
            </a:pPr>
            <a:r>
              <a:rPr b="1" i="0" lang="en" sz="100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OUTPUT    generated_mf_query.py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5120640" y="2560320"/>
            <a:ext cx="3383280" cy="18288"/>
          </a:xfrm>
          <a:prstGeom prst="rect">
            <a:avLst/>
          </a:prstGeom>
          <a:solidFill>
            <a:srgbClr val="33333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5120640" y="269748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Scan 0: seed MF table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Scan 1: filter NY → sum_quant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Scan 2: filter NJ → sum_quant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Scan 3: filter CT → sum_quant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Apply HAVING filter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Project SELECT columns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Return sorted rows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 Black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502920" y="59436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The Query Spec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502920" y="1508760"/>
            <a:ext cx="3474720" cy="333756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658368" y="1627632"/>
            <a:ext cx="31546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SELECT ATTRIBUTE(S):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cust, 1_sum_quant,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2_sum_quant, 3_sum_quant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NUMBER OF GROUPING VARIABLES(n):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GROUPING ATTRIBUTES(V):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cust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F-VECT([F]):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1_sum_quant, 2_sum_quant, 3_sum_quant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SELECT CONDITION-VECT([sigma]):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1.state='NY'  2.state='NJ'  3.state='CT'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HAVING_CONDITION(G):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4297680" y="1353250"/>
            <a:ext cx="548700" cy="5028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4297680" y="1371538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956048" y="1408114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Columns to return</a:t>
            </a:r>
            <a:r>
              <a:rPr lang="en" sz="13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raw attributes or named aggregates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4297680" y="2020762"/>
            <a:ext cx="548700" cy="5028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297680" y="2039050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4956048" y="2075626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Number of grouping variables; one scan pass each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297680" y="2688274"/>
            <a:ext cx="548700" cy="502800"/>
          </a:xfrm>
          <a:prstGeom prst="rect">
            <a:avLst/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4297680" y="2706562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956048" y="2743138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Grouping key</a:t>
            </a:r>
            <a:r>
              <a:rPr lang="en" sz="13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what rows get bucketed by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297680" y="3965386"/>
            <a:ext cx="548700" cy="50280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4297680" y="3983674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sigma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4956048" y="4020250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Per-variable WHERE filter applied before aggregating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297680" y="4632898"/>
            <a:ext cx="548700" cy="5028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4297680" y="4651186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956048" y="4687762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HAVING-style condition post-aggregation (or 'none')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297680" y="3318463"/>
            <a:ext cx="548700" cy="502800"/>
          </a:xfrm>
          <a:prstGeom prst="rect">
            <a:avLst/>
          </a:prstGeom>
          <a:solidFill>
            <a:srgbClr val="FF00FF"/>
          </a:solidFill>
          <a:ln cap="flat" cmpd="sng" w="127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4297680" y="3336751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lang="en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956048" y="3373327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Aggregate function variables/references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 Black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Parsing &amp; Validation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502920" y="1481328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parser.py validates every field and produces a structured query_data dict. Bad input exits with a clear message (no silent failures).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502920" y="2249424"/>
            <a:ext cx="8321040" cy="50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502920" y="2249424"/>
            <a:ext cx="54864" cy="5029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658368" y="2304288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508760" y="230428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Every attribute must exist in VALID_COLUMNS (the sales table schema)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502920" y="2788920"/>
            <a:ext cx="54864" cy="5029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658368" y="2843784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1508760" y="2843784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Format is {group}_{agg}_{attr}</a:t>
            </a:r>
            <a:r>
              <a:rPr lang="en" sz="13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group must be in [1..n], agg must be sum/count/avg/min/max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502920" y="3328416"/>
            <a:ext cx="8321040" cy="50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02920" y="3328416"/>
            <a:ext cx="54864" cy="5029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658368" y="3383280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1508760" y="338328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Every aggregate in S must also be declared in F (no phantom references)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502920" y="3867912"/>
            <a:ext cx="54864" cy="5029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658368" y="3922776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sigma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1508760" y="3922776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Exactly n entries, one per group; right-hand side can't reference a later group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02920" y="4407408"/>
            <a:ext cx="8321040" cy="5029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502920" y="4407408"/>
            <a:ext cx="54864" cy="5029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658368" y="4462272"/>
            <a:ext cx="777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1508760" y="4462272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AND-chain of comparisons; 'none' accepted to skip the HAVING filter entirely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 Black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The MF Table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502920" y="1481328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mf_structure.py builds the in-memory structure that accumulates aggregate state across scans.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02920" y="2103120"/>
            <a:ext cx="3840480" cy="27432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658368" y="21945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onsolas"/>
              <a:buNone/>
            </a:pPr>
            <a:r>
              <a:rPr b="1" i="0" lang="en" sz="10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Entry Template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658368" y="2578608"/>
            <a:ext cx="352044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'cust':         None,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'1_sum_quant':  0,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'2_sum_quant':  0,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'3_sum_quant':  0,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# avg: {sum, count, value}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# max/min: None until set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onsolas"/>
              <a:buNone/>
            </a:pPr>
            <a:r>
              <a:rPr b="0" i="0" lang="en" sz="1150" u="none" cap="none" strike="noStrike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572000" y="2267712"/>
            <a:ext cx="109728" cy="10972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4773168" y="219456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01  One row per unique 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773168" y="25146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Scan 0 walks all sales rows and seeds the table with every distinct grouping-key combo.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4572000" y="2944368"/>
            <a:ext cx="109728" cy="10972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4773168" y="2871216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02  Type-aware init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4773168" y="319125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sum → 0,  count → 0,  avg → {sum,count,value},  max/min → None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572000" y="3764280"/>
            <a:ext cx="109800" cy="1098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4773168" y="3614928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n"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i="0" lang="en" sz="13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  Key-based lookup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4773168" y="3934968"/>
            <a:ext cx="393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lookup_mf_entry matches by grouping key; add_mf_entry appends on a miss.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 Black"/>
              <a:buNone/>
            </a:pPr>
            <a:r>
              <a:rPr b="1" i="0" lang="en" sz="11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Query Execution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02920" y="1481328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mf_query.py runs n + 1 passes over the sales table.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502920" y="2103120"/>
            <a:ext cx="2697480" cy="269748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502920" y="2103120"/>
            <a:ext cx="54864" cy="269748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667512" y="22128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onsolas"/>
              <a:buNone/>
            </a:pPr>
            <a:r>
              <a:rPr b="1" i="0" lang="en" sz="10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SCAN  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667512" y="2606040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667512" y="3127248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Walk every sales row. For each unique V combination encountered, append a fresh empty entry to the MF table.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3355848" y="2103120"/>
            <a:ext cx="2697480" cy="269748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3355848" y="2103120"/>
            <a:ext cx="54864" cy="269748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3520440" y="22128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onsolas"/>
              <a:buNone/>
            </a:pPr>
            <a:r>
              <a:rPr b="1" i="0" lang="en" sz="10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SCAN  1..n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3520440" y="2606040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Aggregate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3520440" y="3127248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For group g: filter rows by sigma[g], then update agg fields assigned to g (sum, count, avg, max, or min).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6208776" y="2103120"/>
            <a:ext cx="2697480" cy="2697480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6208776" y="2103120"/>
            <a:ext cx="54864" cy="2697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6373368" y="2212848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b="1" i="0" lang="en" sz="10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6373368" y="2606040"/>
            <a:ext cx="2468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Filter &amp;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6373368" y="3127248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Apply G (HAVING). Project S columns from surviving entries. Sort by V. Return the final result rows.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 Black"/>
              <a:buNone/>
            </a:pPr>
            <a:r>
              <a:rPr b="1" lang="en" sz="1100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Point A to Point B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02920" y="1600200"/>
            <a:ext cx="1005840" cy="100584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502920" y="16002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 Black"/>
              <a:buNone/>
            </a:pPr>
            <a:r>
              <a:rPr b="1" i="0" lang="en" sz="24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393192" y="26974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query.txt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393192" y="308152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Write spec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 plain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1545336" y="2075688"/>
            <a:ext cx="612648" cy="36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2185416" y="1600200"/>
            <a:ext cx="1005840" cy="100584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2185416" y="16002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 Black"/>
              <a:buNone/>
            </a:pPr>
            <a:r>
              <a:rPr b="1" i="0" lang="en" sz="24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2075688" y="26974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main.py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2075688" y="308152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File / CLI 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interactive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3227832" y="2075688"/>
            <a:ext cx="612648" cy="36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3867912" y="1600200"/>
            <a:ext cx="1005840" cy="100584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3867912" y="16002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 Black"/>
              <a:buNone/>
            </a:pPr>
            <a:r>
              <a:rPr b="1" i="0" lang="en" sz="24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3758184" y="26974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parser.py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3758184" y="308152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Validate &amp;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build query_data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4910328" y="2075688"/>
            <a:ext cx="612648" cy="36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550408" y="1600200"/>
            <a:ext cx="1005840" cy="100584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5550408" y="16002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 Black"/>
              <a:buNone/>
            </a:pPr>
            <a:r>
              <a:rPr b="1" i="0" lang="en" sz="24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440680" y="26974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mf_query.py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440680" y="308152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n+1 scan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6592824" y="2075688"/>
            <a:ext cx="612648" cy="36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7232904" y="1600200"/>
            <a:ext cx="1005840" cy="100584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7232904" y="16002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 Black"/>
              <a:buNone/>
            </a:pPr>
            <a:r>
              <a:rPr b="1" i="0" lang="en" sz="2400" u="none" cap="none" strike="noStrike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7123176" y="269748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Consolas"/>
              <a:buNone/>
            </a:pPr>
            <a:r>
              <a:rPr b="1" i="0" lang="en" sz="1050" u="none" cap="none" strike="noStrike">
                <a:solidFill>
                  <a:srgbClr val="111111"/>
                </a:solidFill>
                <a:latin typeface="Consolas"/>
                <a:ea typeface="Consolas"/>
                <a:cs typeface="Consolas"/>
                <a:sym typeface="Consolas"/>
              </a:rPr>
              <a:t>generator.py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7123176" y="3081528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Emit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programs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02920" y="3749040"/>
            <a:ext cx="8321040" cy="36576"/>
          </a:xfrm>
          <a:prstGeom prst="rect">
            <a:avLst/>
          </a:prstGeom>
          <a:solidFill>
            <a:srgbClr val="E8E8E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 cap="flat" cmpd="sng" w="127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502920" y="201168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 Black"/>
              <a:buNone/>
            </a:pPr>
            <a:r>
              <a:rPr b="1" lang="en" sz="1100">
                <a:solidFill>
                  <a:srgbClr val="2563EB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02920" y="5943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000"/>
              <a:buFont typeface="Arial Black"/>
              <a:buNone/>
            </a:pPr>
            <a:r>
              <a:rPr b="1" i="0" lang="en" sz="40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Contributions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02920" y="1737360"/>
            <a:ext cx="8321040" cy="804672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502920" y="1737360"/>
            <a:ext cx="54864" cy="80467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658368" y="18288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Owen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658368" y="2176272"/>
            <a:ext cx="8092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Co-developed the full pipeline via pair programming</a:t>
            </a:r>
            <a:r>
              <a:rPr lang="en" sz="12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equal contributor across all modules and query logic.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02920" y="2697480"/>
            <a:ext cx="54864" cy="80467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658368" y="27889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Jacob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58368" y="3136392"/>
            <a:ext cx="8092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Co-developed the full pipeline via pair programming</a:t>
            </a:r>
            <a:r>
              <a:rPr lang="en" sz="12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equal contributor across all modules and query logic.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02920" y="3657600"/>
            <a:ext cx="8321040" cy="804672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502920" y="3657600"/>
            <a:ext cx="54864" cy="80467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658368" y="37490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 Black"/>
              <a:buNone/>
            </a:pPr>
            <a:r>
              <a:rPr b="1" i="0" lang="en" sz="1300" u="none" cap="none" strike="noStrike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rPr>
              <a:t>Claude (Anthropic)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58368" y="4096512"/>
            <a:ext cx="8092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alibri"/>
              <a:buNone/>
            </a:pPr>
            <a:r>
              <a:rPr b="0" i="0" lang="en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Assisted with debugging sessions, repeated code for error checking functions, </a:t>
            </a:r>
            <a:r>
              <a:rPr lang="en" sz="125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and regex.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